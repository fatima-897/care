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lay Bold" charset="1" panose="00000800000000000000"/>
      <p:regular r:id="rId22"/>
    </p:embeddedFont>
    <p:embeddedFont>
      <p:font typeface="Play" charset="1" panose="000005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403" y="2749043"/>
            <a:ext cx="7411749" cy="7752270"/>
          </a:xfrm>
          <a:custGeom>
            <a:avLst/>
            <a:gdLst/>
            <a:ahLst/>
            <a:cxnLst/>
            <a:rect r="r" b="b" t="t" l="l"/>
            <a:pathLst>
              <a:path h="7752270" w="7411749">
                <a:moveTo>
                  <a:pt x="0" y="0"/>
                </a:moveTo>
                <a:lnTo>
                  <a:pt x="7411749" y="0"/>
                </a:lnTo>
                <a:lnTo>
                  <a:pt x="7411749" y="7752270"/>
                </a:lnTo>
                <a:lnTo>
                  <a:pt x="0" y="775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653231" y="-1638698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009871"/>
            <a:ext cx="11207743" cy="5207902"/>
            <a:chOff x="0" y="0"/>
            <a:chExt cx="14943657" cy="69438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1925"/>
              <a:ext cx="14943657" cy="5973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68"/>
                </a:lnSpc>
              </a:pPr>
              <a:r>
                <a:rPr lang="en-US" b="true" sz="8668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Hospital Management System Overview and Insights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376515"/>
              <a:ext cx="13710835" cy="567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9"/>
                </a:lnSpc>
                <a:spcBef>
                  <a:spcPct val="0"/>
                </a:spcBef>
              </a:pPr>
              <a:r>
                <a:rPr lang="en-US" sz="255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Sm</a:t>
              </a:r>
              <a:r>
                <a:rPr lang="en-US" sz="255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art Hospitals: How Technology is Enhancing Patient Care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71883" y="-256127"/>
            <a:ext cx="8916790" cy="10799254"/>
            <a:chOff x="0" y="0"/>
            <a:chExt cx="777062" cy="941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062" cy="941111"/>
            </a:xfrm>
            <a:custGeom>
              <a:avLst/>
              <a:gdLst/>
              <a:ahLst/>
              <a:cxnLst/>
              <a:rect r="r" b="b" t="t" l="l"/>
              <a:pathLst>
                <a:path h="941111" w="777062">
                  <a:moveTo>
                    <a:pt x="0" y="0"/>
                  </a:moveTo>
                  <a:lnTo>
                    <a:pt x="573862" y="0"/>
                  </a:lnTo>
                  <a:lnTo>
                    <a:pt x="777062" y="470556"/>
                  </a:lnTo>
                  <a:lnTo>
                    <a:pt x="573862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322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76512" y="724890"/>
            <a:ext cx="465426" cy="465426"/>
          </a:xfrm>
          <a:custGeom>
            <a:avLst/>
            <a:gdLst/>
            <a:ahLst/>
            <a:cxnLst/>
            <a:rect r="r" b="b" t="t" l="l"/>
            <a:pathLst>
              <a:path h="465426" w="465426">
                <a:moveTo>
                  <a:pt x="0" y="0"/>
                </a:moveTo>
                <a:lnTo>
                  <a:pt x="465426" y="0"/>
                </a:lnTo>
                <a:lnTo>
                  <a:pt x="465426" y="465427"/>
                </a:lnTo>
                <a:lnTo>
                  <a:pt x="0" y="465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5986" y="723818"/>
            <a:ext cx="1293703" cy="40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1"/>
              </a:lnSpc>
            </a:pPr>
            <a:r>
              <a:rPr lang="en-US" sz="2215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CARE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134633" y="-343579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874581" y="6089212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2927557" y="7913536"/>
            <a:ext cx="1952122" cy="0"/>
          </a:xfrm>
          <a:prstGeom prst="line">
            <a:avLst/>
          </a:prstGeom>
          <a:ln cap="rnd" w="9525">
            <a:solidFill>
              <a:srgbClr val="67C3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400000">
            <a:off x="-239844" y="7913536"/>
            <a:ext cx="1952122" cy="0"/>
          </a:xfrm>
          <a:prstGeom prst="line">
            <a:avLst/>
          </a:prstGeom>
          <a:ln cap="rnd" w="9525">
            <a:solidFill>
              <a:srgbClr val="67C3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6234015" y="7913536"/>
            <a:ext cx="1952122" cy="0"/>
          </a:xfrm>
          <a:prstGeom prst="line">
            <a:avLst/>
          </a:prstGeom>
          <a:ln cap="rnd" w="9525">
            <a:solidFill>
              <a:srgbClr val="67C3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9679530" y="7913536"/>
            <a:ext cx="1952122" cy="0"/>
          </a:xfrm>
          <a:prstGeom prst="line">
            <a:avLst/>
          </a:prstGeom>
          <a:ln cap="rnd" w="9525">
            <a:solidFill>
              <a:srgbClr val="67C3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400000">
            <a:off x="13387707" y="7834545"/>
            <a:ext cx="1952122" cy="0"/>
          </a:xfrm>
          <a:prstGeom prst="line">
            <a:avLst/>
          </a:prstGeom>
          <a:ln cap="rnd" w="9525">
            <a:solidFill>
              <a:srgbClr val="67C3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636876" y="1028700"/>
            <a:ext cx="4803865" cy="4989142"/>
          </a:xfrm>
          <a:custGeom>
            <a:avLst/>
            <a:gdLst/>
            <a:ahLst/>
            <a:cxnLst/>
            <a:rect r="r" b="b" t="t" l="l"/>
            <a:pathLst>
              <a:path h="4989142" w="4803865">
                <a:moveTo>
                  <a:pt x="0" y="0"/>
                </a:moveTo>
                <a:lnTo>
                  <a:pt x="4803864" y="0"/>
                </a:lnTo>
                <a:lnTo>
                  <a:pt x="4803864" y="4989142"/>
                </a:lnTo>
                <a:lnTo>
                  <a:pt x="0" y="4989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8" t="0" r="-1928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9445425" cy="2551380"/>
            <a:chOff x="0" y="0"/>
            <a:chExt cx="12593899" cy="340183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52400"/>
              <a:ext cx="12593899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90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Meet the Team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020926"/>
              <a:ext cx="12593899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Below are the key contributors to the CARE Project – Hospital Management System.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6834671"/>
            <a:ext cx="2298127" cy="189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1"/>
              </a:lnSpc>
            </a:pP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FATIMA</a:t>
            </a: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NAHID – Team Leader: Oversees the overall project progression and coordinates the team.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78746" y="6851181"/>
            <a:ext cx="2617503" cy="189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1"/>
              </a:lnSpc>
            </a:pP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J</a:t>
            </a: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AVERIA – Team Member: Responsible for contributing to specific project tasks and supporting the team.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1998" y="6851181"/>
            <a:ext cx="2793159" cy="15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1"/>
              </a:lnSpc>
            </a:pP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ABDUL</a:t>
            </a: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GHANI – Team Member: Focuses on assisting with project development and implementation.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98991" y="6851181"/>
            <a:ext cx="2888972" cy="15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1"/>
              </a:lnSpc>
            </a:pP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HUZAIFA</a:t>
            </a: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FAHIM – Team Member: Ensures the project meets quality standards and contributes to testing.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41797" y="6834671"/>
            <a:ext cx="2617503" cy="189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1"/>
              </a:lnSpc>
            </a:pP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ASHAR</a:t>
            </a:r>
            <a:r>
              <a:rPr lang="en-US" sz="1924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HUSSAIN – Team Member: Analyzes requirements and helps align project objectives with the team’s goals.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591867"/>
            <a:ext cx="9323039" cy="7101282"/>
            <a:chOff x="0" y="0"/>
            <a:chExt cx="12430718" cy="94683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System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3258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Transforming Hospital Management for Enhanced Efficiency and Patient Care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62347"/>
              <a:ext cx="12430718" cy="2079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The CARE Project aims to streamline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hospital operations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through an innovative management system.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9183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By providing a </a:t>
              </a:r>
              <a:r>
                <a:rPr lang="en-US" b="true" sz="24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digital solution</a:t>
              </a: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for scheduling, record-keeping, and communication, this system enhances efficiency, reduces errors, and improves overall patient care in healthcare facilities.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646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3016" y="2482078"/>
            <a:ext cx="5863082" cy="5863082"/>
          </a:xfrm>
          <a:custGeom>
            <a:avLst/>
            <a:gdLst/>
            <a:ahLst/>
            <a:cxnLst/>
            <a:rect r="r" b="b" t="t" l="l"/>
            <a:pathLst>
              <a:path h="5863082" w="5863082">
                <a:moveTo>
                  <a:pt x="0" y="0"/>
                </a:moveTo>
                <a:lnTo>
                  <a:pt x="5863082" y="0"/>
                </a:lnTo>
                <a:lnTo>
                  <a:pt x="5863082" y="5863083"/>
                </a:lnTo>
                <a:lnTo>
                  <a:pt x="0" y="5863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2263379"/>
            <a:ext cx="9323039" cy="5758257"/>
            <a:chOff x="0" y="0"/>
            <a:chExt cx="12430718" cy="76776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Workflow Challenges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2166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Manual Processes in Healthcare: Inefficiencies and Risks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370147"/>
              <a:ext cx="12430718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Manual workflows in healthcare lead to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significant delays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and errors in patient care.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1276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These processes are often time-consuming and hinder communication, resulting in </a:t>
              </a:r>
              <a:r>
                <a:rPr lang="en-US" b="true" sz="24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inefficient service delivery</a:t>
              </a: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and increased risks for patient safety and satisfaction.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38724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3196" y="2482078"/>
            <a:ext cx="5863082" cy="5863082"/>
          </a:xfrm>
          <a:custGeom>
            <a:avLst/>
            <a:gdLst/>
            <a:ahLst/>
            <a:cxnLst/>
            <a:rect r="r" b="b" t="t" l="l"/>
            <a:pathLst>
              <a:path h="5863082" w="5863082">
                <a:moveTo>
                  <a:pt x="0" y="0"/>
                </a:moveTo>
                <a:lnTo>
                  <a:pt x="5863082" y="0"/>
                </a:lnTo>
                <a:lnTo>
                  <a:pt x="5863082" y="5863083"/>
                </a:lnTo>
                <a:lnTo>
                  <a:pt x="0" y="5863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853804"/>
            <a:ext cx="9323039" cy="6577407"/>
            <a:chOff x="0" y="0"/>
            <a:chExt cx="12430718" cy="87698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Our Goals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3258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Embracing Digital Solutions for Enhanced Healthcare Management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62347"/>
              <a:ext cx="12430718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Our project aims to provide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flexible booking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options that cater to patient needs.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2198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By implementing user-friendly dashboards, we enable staff to monitor operations efficiently and make data-driven decisions, ultimately enhancing patient care and service delivery.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646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43728" y="171283"/>
            <a:ext cx="5026107" cy="9503223"/>
            <a:chOff x="0" y="0"/>
            <a:chExt cx="3371850" cy="637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33464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346450">
                  <a:moveTo>
                    <a:pt x="3346450" y="6350000"/>
                  </a:moveTo>
                  <a:lnTo>
                    <a:pt x="1403350" y="6350000"/>
                  </a:lnTo>
                  <a:cubicBezTo>
                    <a:pt x="628650" y="6350000"/>
                    <a:pt x="0" y="5721350"/>
                    <a:pt x="0" y="4946650"/>
                  </a:cubicBezTo>
                  <a:lnTo>
                    <a:pt x="0" y="0"/>
                  </a:lnTo>
                  <a:lnTo>
                    <a:pt x="1849120" y="0"/>
                  </a:lnTo>
                  <a:cubicBezTo>
                    <a:pt x="2675890" y="0"/>
                    <a:pt x="3346450" y="670560"/>
                    <a:pt x="3346450" y="1497330"/>
                  </a:cubicBezTo>
                  <a:lnTo>
                    <a:pt x="3346450" y="6350000"/>
                  </a:lnTo>
                  <a:lnTo>
                    <a:pt x="3346450" y="6350000"/>
                  </a:lnTo>
                  <a:close/>
                </a:path>
              </a:pathLst>
            </a:custGeom>
            <a:blipFill>
              <a:blip r:embed="rId6"/>
              <a:stretch>
                <a:fillRect l="-44876" t="0" r="-44876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1850" cy="6375400"/>
            </a:xfrm>
            <a:custGeom>
              <a:avLst/>
              <a:gdLst/>
              <a:ahLst/>
              <a:cxnLst/>
              <a:rect r="r" b="b" t="t" l="l"/>
              <a:pathLst>
                <a:path h="6375400" w="3371850">
                  <a:moveTo>
                    <a:pt x="3371850" y="6375400"/>
                  </a:moveTo>
                  <a:lnTo>
                    <a:pt x="1416050" y="6375400"/>
                  </a:lnTo>
                  <a:cubicBezTo>
                    <a:pt x="635000" y="6375400"/>
                    <a:pt x="0" y="5740400"/>
                    <a:pt x="0" y="4959350"/>
                  </a:cubicBezTo>
                  <a:lnTo>
                    <a:pt x="0" y="0"/>
                  </a:lnTo>
                  <a:lnTo>
                    <a:pt x="1861820" y="0"/>
                  </a:lnTo>
                  <a:cubicBezTo>
                    <a:pt x="2694940" y="0"/>
                    <a:pt x="3371850" y="676910"/>
                    <a:pt x="3371850" y="1510030"/>
                  </a:cubicBezTo>
                  <a:lnTo>
                    <a:pt x="3371850" y="6375400"/>
                  </a:lnTo>
                  <a:lnTo>
                    <a:pt x="3371850" y="6375400"/>
                  </a:lnTo>
                  <a:close/>
                  <a:moveTo>
                    <a:pt x="25400" y="25400"/>
                  </a:moveTo>
                  <a:lnTo>
                    <a:pt x="25400" y="4959350"/>
                  </a:lnTo>
                  <a:cubicBezTo>
                    <a:pt x="25400" y="5726430"/>
                    <a:pt x="648970" y="6350000"/>
                    <a:pt x="1416050" y="6350000"/>
                  </a:cubicBezTo>
                  <a:lnTo>
                    <a:pt x="3345180" y="6350000"/>
                  </a:lnTo>
                  <a:lnTo>
                    <a:pt x="3345180" y="1510030"/>
                  </a:lnTo>
                  <a:cubicBezTo>
                    <a:pt x="3346450" y="690880"/>
                    <a:pt x="2679700" y="25400"/>
                    <a:pt x="1861820" y="25400"/>
                  </a:cubicBezTo>
                  <a:lnTo>
                    <a:pt x="25400" y="25400"/>
                  </a:lnTo>
                  <a:close/>
                </a:path>
              </a:pathLst>
            </a:custGeom>
            <a:solidFill>
              <a:srgbClr val="ADE7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933557" y="-1129249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1" y="0"/>
                </a:lnTo>
                <a:lnTo>
                  <a:pt x="5363861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857696" y="-1129249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1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1" y="5610296"/>
                </a:lnTo>
                <a:lnTo>
                  <a:pt x="53638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22681" y="673470"/>
            <a:ext cx="4470030" cy="4470030"/>
          </a:xfrm>
          <a:custGeom>
            <a:avLst/>
            <a:gdLst/>
            <a:ahLst/>
            <a:cxnLst/>
            <a:rect r="r" b="b" t="t" l="l"/>
            <a:pathLst>
              <a:path h="4470030" w="4470030">
                <a:moveTo>
                  <a:pt x="0" y="0"/>
                </a:moveTo>
                <a:lnTo>
                  <a:pt x="4470029" y="0"/>
                </a:lnTo>
                <a:lnTo>
                  <a:pt x="4470029" y="4470030"/>
                </a:lnTo>
                <a:lnTo>
                  <a:pt x="0" y="447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11145476" cy="406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65"/>
              </a:lnSpc>
            </a:pPr>
            <a:r>
              <a:rPr lang="en-US" b="true" sz="8887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Role-Based Dashboards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10225"/>
            <a:ext cx="4365393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b="true" sz="260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Admin features for efficient management and oversight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6826" y="5610225"/>
            <a:ext cx="4365393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b="true" sz="260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Doctor features for streamlined patient care and reporting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4176" y="5610225"/>
            <a:ext cx="4365393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b="true" sz="260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Patient features for easy access to health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37198"/>
            <a:ext cx="4365393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Admins can monitor system performance, manage users, and generate reports seamlessly.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1438" y="7337198"/>
            <a:ext cx="4470781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Doctors can view patient histories, schedule appointments, and access clinical tools efficiently.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4176" y="7337198"/>
            <a:ext cx="4365393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Patients can book appointments, view test results, and manage their health records online.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57062" y="1521934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What Admins Can Do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2319" y="4432150"/>
            <a:ext cx="7676927" cy="2435829"/>
            <a:chOff x="0" y="0"/>
            <a:chExt cx="10235902" cy="32477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10235902" cy="124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6"/>
                </a:lnSpc>
              </a:pPr>
              <a:r>
                <a:rPr lang="en-US" b="true" sz="292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Managing operations effectively to enhance hospital workflow and service delivery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84846"/>
              <a:ext cx="10235902" cy="1562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4"/>
                </a:lnSpc>
              </a:pPr>
              <a:r>
                <a:rPr lang="en-US" sz="182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Admins play a crucial role in </a:t>
              </a:r>
              <a:r>
                <a:rPr lang="en-US" b="true" sz="1826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streamlining processes</a:t>
              </a:r>
              <a:r>
                <a:rPr lang="en-US" sz="182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within the hospital management system, enabling efficient scheduling, resource allocation, and data management to ensure optimal patient care and organizational efficiency.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8737" y="0"/>
            <a:ext cx="15951844" cy="5971502"/>
            <a:chOff x="0" y="0"/>
            <a:chExt cx="2471358" cy="925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1358" cy="925142"/>
            </a:xfrm>
            <a:custGeom>
              <a:avLst/>
              <a:gdLst/>
              <a:ahLst/>
              <a:cxnLst/>
              <a:rect r="r" b="b" t="t" l="l"/>
              <a:pathLst>
                <a:path h="925142" w="2471358">
                  <a:moveTo>
                    <a:pt x="0" y="0"/>
                  </a:moveTo>
                  <a:lnTo>
                    <a:pt x="2471358" y="0"/>
                  </a:lnTo>
                  <a:lnTo>
                    <a:pt x="2471358" y="925142"/>
                  </a:lnTo>
                  <a:lnTo>
                    <a:pt x="0" y="925142"/>
                  </a:lnTo>
                  <a:close/>
                </a:path>
              </a:pathLst>
            </a:custGeom>
            <a:blipFill>
              <a:blip r:embed="rId2"/>
              <a:stretch>
                <a:fillRect l="0" t="-83566" r="0" b="-835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446644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8737" y="6175307"/>
            <a:ext cx="7676927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</a:pPr>
            <a:r>
              <a:rPr lang="en-US" b="true" sz="6737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Empowering Healthcare Professionals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43655" y="6184832"/>
            <a:ext cx="7676927" cy="2546657"/>
            <a:chOff x="0" y="0"/>
            <a:chExt cx="10235902" cy="33955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235902" cy="136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8"/>
                </a:lnSpc>
              </a:pPr>
              <a:r>
                <a:rPr lang="en-US" b="true" sz="316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Tools for Efficiency in Patient Care and Management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772857"/>
              <a:ext cx="10235902" cy="1622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7"/>
                </a:lnSpc>
              </a:pPr>
              <a:r>
                <a:rPr lang="en-US" sz="18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The Doctor Features module provides essential tools for effective </a:t>
              </a:r>
              <a:r>
                <a:rPr lang="en-US" b="true" sz="18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patient management</a:t>
              </a:r>
              <a:r>
                <a:rPr lang="en-US" sz="18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, allowing doctors to access records, schedule appointments, and communicate directly with patients, improving overall care and </a:t>
              </a:r>
              <a:r>
                <a:rPr lang="en-US" b="true" sz="18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efficiency</a:t>
              </a:r>
              <a:r>
                <a:rPr lang="en-US" sz="18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in the healthcare system.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69" y="-1422277"/>
            <a:ext cx="17984067" cy="6776187"/>
            <a:chOff x="0" y="0"/>
            <a:chExt cx="2471358" cy="9311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1358" cy="931179"/>
            </a:xfrm>
            <a:custGeom>
              <a:avLst/>
              <a:gdLst/>
              <a:ahLst/>
              <a:cxnLst/>
              <a:rect r="r" b="b" t="t" l="l"/>
              <a:pathLst>
                <a:path h="931179" w="2471358">
                  <a:moveTo>
                    <a:pt x="0" y="0"/>
                  </a:moveTo>
                  <a:lnTo>
                    <a:pt x="2471358" y="0"/>
                  </a:lnTo>
                  <a:lnTo>
                    <a:pt x="2471358" y="931179"/>
                  </a:lnTo>
                  <a:lnTo>
                    <a:pt x="0" y="931179"/>
                  </a:lnTo>
                  <a:close/>
                </a:path>
              </a:pathLst>
            </a:custGeom>
            <a:blipFill>
              <a:blip r:embed="rId2"/>
              <a:stretch>
                <a:fillRect l="0" t="-82700" r="0" b="-8270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446644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8737" y="6184832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Patient-Centric Solutions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43655" y="6184832"/>
            <a:ext cx="7676927" cy="2289589"/>
            <a:chOff x="0" y="0"/>
            <a:chExt cx="10235902" cy="30527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10235902" cy="105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5"/>
                </a:lnSpc>
              </a:pPr>
              <a:r>
                <a:rPr lang="en-US" b="true" sz="2435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Enhancing user experience through tailored features for better healthcare access and communication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89859"/>
              <a:ext cx="10235902" cy="1562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4"/>
                </a:lnSpc>
              </a:pPr>
              <a:r>
                <a:rPr lang="en-US" sz="182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Our system provides patients with </a:t>
              </a:r>
              <a:r>
                <a:rPr lang="en-US" b="true" sz="1826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streamlined access</a:t>
              </a:r>
              <a:r>
                <a:rPr lang="en-US" sz="182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to healthcare services, including flexible appointment scheduling, online consultation, and </a:t>
              </a:r>
              <a:r>
                <a:rPr lang="en-US" b="true" sz="1826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real-time updates</a:t>
              </a:r>
              <a:r>
                <a:rPr lang="en-US" sz="1826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on their medical records, ensuring a more efficient healthcare experience.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1826" y="769220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6"/>
                </a:lnTo>
                <a:lnTo>
                  <a:pt x="0" y="337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62251" y="3775720"/>
            <a:ext cx="7134501" cy="7462284"/>
          </a:xfrm>
          <a:custGeom>
            <a:avLst/>
            <a:gdLst/>
            <a:ahLst/>
            <a:cxnLst/>
            <a:rect r="r" b="b" t="t" l="l"/>
            <a:pathLst>
              <a:path h="7462284" w="7134501">
                <a:moveTo>
                  <a:pt x="7134501" y="0"/>
                </a:moveTo>
                <a:lnTo>
                  <a:pt x="0" y="0"/>
                </a:lnTo>
                <a:lnTo>
                  <a:pt x="0" y="7462284"/>
                </a:lnTo>
                <a:lnTo>
                  <a:pt x="7134501" y="7462284"/>
                </a:lnTo>
                <a:lnTo>
                  <a:pt x="71345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2164944" y="-1717658"/>
            <a:ext cx="7134501" cy="7462284"/>
          </a:xfrm>
          <a:custGeom>
            <a:avLst/>
            <a:gdLst/>
            <a:ahLst/>
            <a:cxnLst/>
            <a:rect r="r" b="b" t="t" l="l"/>
            <a:pathLst>
              <a:path h="7462284" w="7134501">
                <a:moveTo>
                  <a:pt x="7134501" y="0"/>
                </a:moveTo>
                <a:lnTo>
                  <a:pt x="0" y="0"/>
                </a:lnTo>
                <a:lnTo>
                  <a:pt x="0" y="7462284"/>
                </a:lnTo>
                <a:lnTo>
                  <a:pt x="7134501" y="7462284"/>
                </a:lnTo>
                <a:lnTo>
                  <a:pt x="71345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37875" y="1801805"/>
            <a:ext cx="6683389" cy="6683389"/>
          </a:xfrm>
          <a:custGeom>
            <a:avLst/>
            <a:gdLst/>
            <a:ahLst/>
            <a:cxnLst/>
            <a:rect r="r" b="b" t="t" l="l"/>
            <a:pathLst>
              <a:path h="6683389" w="6683389">
                <a:moveTo>
                  <a:pt x="0" y="0"/>
                </a:moveTo>
                <a:lnTo>
                  <a:pt x="6683390" y="0"/>
                </a:lnTo>
                <a:lnTo>
                  <a:pt x="6683390" y="6683390"/>
                </a:lnTo>
                <a:lnTo>
                  <a:pt x="0" y="66833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43749" y="1801805"/>
            <a:ext cx="7215551" cy="6683389"/>
            <a:chOff x="0" y="0"/>
            <a:chExt cx="9620734" cy="89111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8908284" cy="136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8"/>
                </a:lnSpc>
              </a:pPr>
              <a:r>
                <a:rPr lang="en-US" sz="316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Our Tech Foundation: Building a robust hospital management system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36427"/>
              <a:ext cx="9620734" cy="3034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83"/>
                </a:lnSpc>
              </a:pPr>
              <a:r>
                <a:rPr lang="en-US" b="true" sz="7724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Comprehensive Stack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312589"/>
              <a:ext cx="9620734" cy="136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8"/>
                </a:lnSpc>
              </a:pPr>
              <a:r>
                <a:rPr lang="en-US" b="true" sz="316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Our system utilizes the latest web technologies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139491"/>
              <a:ext cx="9620734" cy="17716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</a:pPr>
              <a:r>
                <a:rPr lang="en-US" sz="20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The CARE Project employs </a:t>
              </a:r>
              <a:r>
                <a:rPr lang="en-US" b="true" sz="20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HTML5, CSS3, JavaScript,</a:t>
              </a:r>
              <a:r>
                <a:rPr lang="en-US" sz="20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and </a:t>
              </a:r>
              <a:r>
                <a:rPr lang="en-US" b="true" sz="20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PHP</a:t>
              </a:r>
              <a:r>
                <a:rPr lang="en-US" sz="20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to create an intuitive interface. Utilizing </a:t>
              </a:r>
              <a:r>
                <a:rPr lang="en-US" b="true" sz="20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MySQL</a:t>
              </a:r>
              <a:r>
                <a:rPr lang="en-US" sz="20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for database management ensures efficient data handling, while </a:t>
              </a:r>
              <a:r>
                <a:rPr lang="en-US" b="true" sz="205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XAMPP</a:t>
              </a:r>
              <a:r>
                <a:rPr lang="en-US" sz="205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provides a seamless development environment.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591867"/>
            <a:ext cx="9323039" cy="7101282"/>
            <a:chOff x="0" y="0"/>
            <a:chExt cx="12430718" cy="94683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Visualizing Our Framework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3258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Custom Data Flow Diagram (DFD) for the CARE Project Hospital Management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62347"/>
              <a:ext cx="12430718" cy="2079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This diagram illustrates the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interconnected components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of our hospital management system's architecture.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9183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It highlights how data flows between various modules, ensuring efficiency and </a:t>
              </a:r>
              <a:r>
                <a:rPr lang="en-US" b="true" sz="24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streamlined operations</a:t>
              </a: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for admin, doctors, and patients, ultimately enhancing overall hospital management.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646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1282" y="1726296"/>
            <a:ext cx="6834408" cy="6834408"/>
          </a:xfrm>
          <a:custGeom>
            <a:avLst/>
            <a:gdLst/>
            <a:ahLst/>
            <a:cxnLst/>
            <a:rect r="r" b="b" t="t" l="l"/>
            <a:pathLst>
              <a:path h="6834408" w="6834408">
                <a:moveTo>
                  <a:pt x="0" y="0"/>
                </a:moveTo>
                <a:lnTo>
                  <a:pt x="6834409" y="0"/>
                </a:lnTo>
                <a:lnTo>
                  <a:pt x="6834409" y="6834408"/>
                </a:lnTo>
                <a:lnTo>
                  <a:pt x="0" y="6834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853804"/>
            <a:ext cx="9323039" cy="6577407"/>
            <a:chOff x="0" y="0"/>
            <a:chExt cx="12430718" cy="87698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User Interface Design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3258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 Glimpse of Our Hospital Management System User Interface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62347"/>
              <a:ext cx="12430718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Our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intuitive design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focuses on user experience and accessibility.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2198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Each UI element is crafted to ensure </a:t>
              </a:r>
              <a:r>
                <a:rPr lang="en-US" b="true" sz="24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seamless navigation</a:t>
              </a: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for all users, including doctors, admins, and patients. The layout enhances efficiency and usability while maintaining a professional aesthetic.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646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63852" y="1028700"/>
            <a:ext cx="4352508" cy="8229600"/>
            <a:chOff x="0" y="0"/>
            <a:chExt cx="3371850" cy="637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33464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346450">
                  <a:moveTo>
                    <a:pt x="3346450" y="6350000"/>
                  </a:moveTo>
                  <a:lnTo>
                    <a:pt x="1403350" y="6350000"/>
                  </a:lnTo>
                  <a:cubicBezTo>
                    <a:pt x="628650" y="6350000"/>
                    <a:pt x="0" y="5721350"/>
                    <a:pt x="0" y="4946650"/>
                  </a:cubicBezTo>
                  <a:lnTo>
                    <a:pt x="0" y="0"/>
                  </a:lnTo>
                  <a:lnTo>
                    <a:pt x="1849120" y="0"/>
                  </a:lnTo>
                  <a:cubicBezTo>
                    <a:pt x="2675890" y="0"/>
                    <a:pt x="3346450" y="670560"/>
                    <a:pt x="3346450" y="1497330"/>
                  </a:cubicBezTo>
                  <a:lnTo>
                    <a:pt x="3346450" y="6350000"/>
                  </a:lnTo>
                  <a:lnTo>
                    <a:pt x="3346450" y="6350000"/>
                  </a:lnTo>
                  <a:close/>
                </a:path>
              </a:pathLst>
            </a:custGeom>
            <a:blipFill>
              <a:blip r:embed="rId6"/>
              <a:stretch>
                <a:fillRect l="-44876" t="0" r="-44876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1850" cy="6375400"/>
            </a:xfrm>
            <a:custGeom>
              <a:avLst/>
              <a:gdLst/>
              <a:ahLst/>
              <a:cxnLst/>
              <a:rect r="r" b="b" t="t" l="l"/>
              <a:pathLst>
                <a:path h="6375400" w="3371850">
                  <a:moveTo>
                    <a:pt x="3371850" y="6375400"/>
                  </a:moveTo>
                  <a:lnTo>
                    <a:pt x="1416050" y="6375400"/>
                  </a:lnTo>
                  <a:cubicBezTo>
                    <a:pt x="635000" y="6375400"/>
                    <a:pt x="0" y="5740400"/>
                    <a:pt x="0" y="4959350"/>
                  </a:cubicBezTo>
                  <a:lnTo>
                    <a:pt x="0" y="0"/>
                  </a:lnTo>
                  <a:lnTo>
                    <a:pt x="1861820" y="0"/>
                  </a:lnTo>
                  <a:cubicBezTo>
                    <a:pt x="2694940" y="0"/>
                    <a:pt x="3371850" y="676910"/>
                    <a:pt x="3371850" y="1510030"/>
                  </a:cubicBezTo>
                  <a:lnTo>
                    <a:pt x="3371850" y="6375400"/>
                  </a:lnTo>
                  <a:lnTo>
                    <a:pt x="3371850" y="6375400"/>
                  </a:lnTo>
                  <a:close/>
                  <a:moveTo>
                    <a:pt x="25400" y="25400"/>
                  </a:moveTo>
                  <a:lnTo>
                    <a:pt x="25400" y="4959350"/>
                  </a:lnTo>
                  <a:cubicBezTo>
                    <a:pt x="25400" y="5726430"/>
                    <a:pt x="648970" y="6350000"/>
                    <a:pt x="1416050" y="6350000"/>
                  </a:cubicBezTo>
                  <a:lnTo>
                    <a:pt x="3345180" y="6350000"/>
                  </a:lnTo>
                  <a:lnTo>
                    <a:pt x="3345180" y="1510030"/>
                  </a:lnTo>
                  <a:cubicBezTo>
                    <a:pt x="3346450" y="690880"/>
                    <a:pt x="2679700" y="25400"/>
                    <a:pt x="1861820" y="25400"/>
                  </a:cubicBezTo>
                  <a:lnTo>
                    <a:pt x="25400" y="25400"/>
                  </a:lnTo>
                  <a:close/>
                </a:path>
              </a:pathLst>
            </a:custGeom>
            <a:solidFill>
              <a:srgbClr val="ADE7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826230"/>
            <a:ext cx="9323039" cy="6632557"/>
            <a:chOff x="0" y="0"/>
            <a:chExt cx="12430718" cy="884340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5"/>
                </a:lnSpc>
              </a:pPr>
              <a:r>
                <a:rPr lang="en-US" b="true" sz="287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Overcoming Hurdles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05576"/>
              <a:ext cx="12430718" cy="3212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18"/>
                </a:lnSpc>
              </a:pPr>
              <a:r>
                <a:rPr lang="en-US" sz="4937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Navigating Obstacles in the CARE Project Development Process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361805"/>
              <a:ext cx="12430718" cy="1233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4"/>
                </a:lnSpc>
              </a:pPr>
              <a:r>
                <a:rPr lang="en-US" sz="287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During the development of the CARE Project, we faced </a:t>
              </a:r>
              <a:r>
                <a:rPr lang="en-US" b="true" sz="2879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significant challenges</a:t>
              </a:r>
              <a:r>
                <a:rPr lang="en-US" sz="287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that tested our team's resilience.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962793"/>
              <a:ext cx="12430718" cy="188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7"/>
                </a:lnSpc>
              </a:pPr>
              <a:r>
                <a:rPr lang="en-US" sz="219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These challenges included managing time constraints, ensuring effective communication, and integrating complex systems. Our commitment to finding </a:t>
              </a:r>
              <a:r>
                <a:rPr lang="en-US" b="true" sz="219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innovative solutions</a:t>
              </a:r>
              <a:r>
                <a:rPr lang="en-US" sz="219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helped us navigate these obstacles successfully.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864109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63852" y="1028700"/>
            <a:ext cx="4212366" cy="7964625"/>
            <a:chOff x="0" y="0"/>
            <a:chExt cx="3371850" cy="637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33464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346450">
                  <a:moveTo>
                    <a:pt x="3346450" y="6350000"/>
                  </a:moveTo>
                  <a:lnTo>
                    <a:pt x="1403350" y="6350000"/>
                  </a:lnTo>
                  <a:cubicBezTo>
                    <a:pt x="628650" y="6350000"/>
                    <a:pt x="0" y="5721350"/>
                    <a:pt x="0" y="4946650"/>
                  </a:cubicBezTo>
                  <a:lnTo>
                    <a:pt x="0" y="0"/>
                  </a:lnTo>
                  <a:lnTo>
                    <a:pt x="1849120" y="0"/>
                  </a:lnTo>
                  <a:cubicBezTo>
                    <a:pt x="2675890" y="0"/>
                    <a:pt x="3346450" y="670560"/>
                    <a:pt x="3346450" y="1497330"/>
                  </a:cubicBezTo>
                  <a:lnTo>
                    <a:pt x="3346450" y="6350000"/>
                  </a:lnTo>
                  <a:lnTo>
                    <a:pt x="3346450" y="6350000"/>
                  </a:lnTo>
                  <a:close/>
                </a:path>
              </a:pathLst>
            </a:custGeom>
            <a:blipFill>
              <a:blip r:embed="rId6"/>
              <a:stretch>
                <a:fillRect l="0" t="0" r="-8975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1850" cy="6375400"/>
            </a:xfrm>
            <a:custGeom>
              <a:avLst/>
              <a:gdLst/>
              <a:ahLst/>
              <a:cxnLst/>
              <a:rect r="r" b="b" t="t" l="l"/>
              <a:pathLst>
                <a:path h="6375400" w="3371850">
                  <a:moveTo>
                    <a:pt x="3371850" y="6375400"/>
                  </a:moveTo>
                  <a:lnTo>
                    <a:pt x="1416050" y="6375400"/>
                  </a:lnTo>
                  <a:cubicBezTo>
                    <a:pt x="635000" y="6375400"/>
                    <a:pt x="0" y="5740400"/>
                    <a:pt x="0" y="4959350"/>
                  </a:cubicBezTo>
                  <a:lnTo>
                    <a:pt x="0" y="0"/>
                  </a:lnTo>
                  <a:lnTo>
                    <a:pt x="1861820" y="0"/>
                  </a:lnTo>
                  <a:cubicBezTo>
                    <a:pt x="2694940" y="0"/>
                    <a:pt x="3371850" y="676910"/>
                    <a:pt x="3371850" y="1510030"/>
                  </a:cubicBezTo>
                  <a:lnTo>
                    <a:pt x="3371850" y="6375400"/>
                  </a:lnTo>
                  <a:lnTo>
                    <a:pt x="3371850" y="6375400"/>
                  </a:lnTo>
                  <a:close/>
                  <a:moveTo>
                    <a:pt x="25400" y="25400"/>
                  </a:moveTo>
                  <a:lnTo>
                    <a:pt x="25400" y="4959350"/>
                  </a:lnTo>
                  <a:cubicBezTo>
                    <a:pt x="25400" y="5726430"/>
                    <a:pt x="648970" y="6350000"/>
                    <a:pt x="1416050" y="6350000"/>
                  </a:cubicBezTo>
                  <a:lnTo>
                    <a:pt x="3345180" y="6350000"/>
                  </a:lnTo>
                  <a:lnTo>
                    <a:pt x="3345180" y="1510030"/>
                  </a:lnTo>
                  <a:cubicBezTo>
                    <a:pt x="3346450" y="690880"/>
                    <a:pt x="2679700" y="25400"/>
                    <a:pt x="1861820" y="25400"/>
                  </a:cubicBezTo>
                  <a:lnTo>
                    <a:pt x="25400" y="25400"/>
                  </a:lnTo>
                  <a:close/>
                </a:path>
              </a:pathLst>
            </a:custGeom>
            <a:solidFill>
              <a:srgbClr val="ADE7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853804"/>
            <a:ext cx="9323039" cy="6577407"/>
            <a:chOff x="0" y="0"/>
            <a:chExt cx="12430718" cy="87698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Looking Ahead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9551"/>
              <a:ext cx="12430718" cy="3258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Continuous Improvement and Growth for the CARE Project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62347"/>
              <a:ext cx="12430718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Future updates will focus on enhancing </a:t>
              </a:r>
              <a:r>
                <a:rPr lang="en-US" b="true" sz="32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user experience</a:t>
              </a:r>
              <a:r>
                <a:rPr lang="en-US" sz="3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and increasing system efficiency.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219841"/>
              <a:ext cx="12430718" cy="1550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By integrating advanced analytics and providing more </a:t>
              </a:r>
              <a:r>
                <a:rPr lang="en-US" b="true" sz="24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personalized features</a:t>
              </a:r>
              <a:r>
                <a:rPr lang="en-US" sz="24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, we aim to ensure the CARE Project remains at the forefront of innovative hospital management solutions.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64650"/>
              <a:ext cx="12430718" cy="0"/>
            </a:xfrm>
            <a:prstGeom prst="line">
              <a:avLst/>
            </a:prstGeom>
            <a:ln cap="rnd" w="12700">
              <a:solidFill>
                <a:srgbClr val="ADE7F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853804"/>
            <a:ext cx="5863082" cy="6577407"/>
          </a:xfrm>
          <a:custGeom>
            <a:avLst/>
            <a:gdLst/>
            <a:ahLst/>
            <a:cxnLst/>
            <a:rect r="r" b="b" t="t" l="l"/>
            <a:pathLst>
              <a:path h="6577407" w="5863082">
                <a:moveTo>
                  <a:pt x="0" y="0"/>
                </a:moveTo>
                <a:lnTo>
                  <a:pt x="5863082" y="0"/>
                </a:lnTo>
                <a:lnTo>
                  <a:pt x="5863082" y="6577407"/>
                </a:lnTo>
                <a:lnTo>
                  <a:pt x="0" y="6577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91" t="0" r="-609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1826" y="769220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6"/>
                </a:lnTo>
                <a:lnTo>
                  <a:pt x="0" y="337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62251" y="3775720"/>
            <a:ext cx="7134501" cy="7462284"/>
          </a:xfrm>
          <a:custGeom>
            <a:avLst/>
            <a:gdLst/>
            <a:ahLst/>
            <a:cxnLst/>
            <a:rect r="r" b="b" t="t" l="l"/>
            <a:pathLst>
              <a:path h="7462284" w="7134501">
                <a:moveTo>
                  <a:pt x="7134501" y="0"/>
                </a:moveTo>
                <a:lnTo>
                  <a:pt x="0" y="0"/>
                </a:lnTo>
                <a:lnTo>
                  <a:pt x="0" y="7462284"/>
                </a:lnTo>
                <a:lnTo>
                  <a:pt x="7134501" y="7462284"/>
                </a:lnTo>
                <a:lnTo>
                  <a:pt x="71345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2164944" y="-1717658"/>
            <a:ext cx="7134501" cy="7462284"/>
          </a:xfrm>
          <a:custGeom>
            <a:avLst/>
            <a:gdLst/>
            <a:ahLst/>
            <a:cxnLst/>
            <a:rect r="r" b="b" t="t" l="l"/>
            <a:pathLst>
              <a:path h="7462284" w="7134501">
                <a:moveTo>
                  <a:pt x="7134501" y="0"/>
                </a:moveTo>
                <a:lnTo>
                  <a:pt x="0" y="0"/>
                </a:lnTo>
                <a:lnTo>
                  <a:pt x="0" y="7462284"/>
                </a:lnTo>
                <a:lnTo>
                  <a:pt x="7134501" y="7462284"/>
                </a:lnTo>
                <a:lnTo>
                  <a:pt x="71345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7664" y="2456678"/>
            <a:ext cx="7156184" cy="5373644"/>
          </a:xfrm>
          <a:custGeom>
            <a:avLst/>
            <a:gdLst/>
            <a:ahLst/>
            <a:cxnLst/>
            <a:rect r="r" b="b" t="t" l="l"/>
            <a:pathLst>
              <a:path h="5373644" w="7156184">
                <a:moveTo>
                  <a:pt x="0" y="0"/>
                </a:moveTo>
                <a:lnTo>
                  <a:pt x="7156185" y="0"/>
                </a:lnTo>
                <a:lnTo>
                  <a:pt x="7156185" y="5373644"/>
                </a:lnTo>
                <a:lnTo>
                  <a:pt x="0" y="5373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3014" y="1693608"/>
            <a:ext cx="7546336" cy="6899785"/>
          </a:xfrm>
          <a:custGeom>
            <a:avLst/>
            <a:gdLst/>
            <a:ahLst/>
            <a:cxnLst/>
            <a:rect r="r" b="b" t="t" l="l"/>
            <a:pathLst>
              <a:path h="6899785" w="7546336">
                <a:moveTo>
                  <a:pt x="0" y="0"/>
                </a:moveTo>
                <a:lnTo>
                  <a:pt x="7546335" y="0"/>
                </a:lnTo>
                <a:lnTo>
                  <a:pt x="7546335" y="6899784"/>
                </a:lnTo>
                <a:lnTo>
                  <a:pt x="0" y="68997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685" r="0" b="-468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043749" y="1589294"/>
            <a:ext cx="7215551" cy="7108412"/>
            <a:chOff x="0" y="0"/>
            <a:chExt cx="9620734" cy="947788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908284" cy="136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8"/>
                </a:lnSpc>
              </a:pPr>
              <a:r>
                <a:rPr lang="en-US" sz="316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Key takeaway from the CARE Project Hospital Management System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36427"/>
              <a:ext cx="9620734" cy="3501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20"/>
                </a:lnSpc>
              </a:pPr>
              <a:r>
                <a:rPr lang="en-US" b="true" sz="8887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95% patient satisfaction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779636"/>
              <a:ext cx="9620734" cy="136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8"/>
                </a:lnSpc>
              </a:pPr>
              <a:r>
                <a:rPr lang="en-US" b="true" sz="316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High satisfaction rates indicate effective management solutions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597013"/>
              <a:ext cx="9620734" cy="1880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7"/>
                </a:lnSpc>
              </a:pPr>
              <a:r>
                <a:rPr lang="en-US" sz="2175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This impressive </a:t>
              </a:r>
              <a:r>
                <a:rPr lang="en-US" b="true" sz="2175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95% patient satisfaction</a:t>
              </a:r>
              <a:r>
                <a:rPr lang="en-US" sz="2175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rate demonstrates the improvements in service delivery and engagement achieved through the CARE Project, fostering a healthier environment for both patients and staff.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0243" y="2969743"/>
            <a:ext cx="4347513" cy="4347513"/>
          </a:xfrm>
          <a:custGeom>
            <a:avLst/>
            <a:gdLst/>
            <a:ahLst/>
            <a:cxnLst/>
            <a:rect r="r" b="b" t="t" l="l"/>
            <a:pathLst>
              <a:path h="4347513" w="4347513">
                <a:moveTo>
                  <a:pt x="0" y="0"/>
                </a:moveTo>
                <a:lnTo>
                  <a:pt x="4347514" y="0"/>
                </a:lnTo>
                <a:lnTo>
                  <a:pt x="4347514" y="4347514"/>
                </a:lnTo>
                <a:lnTo>
                  <a:pt x="0" y="4347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7043"/>
            <a:ext cx="16230600" cy="95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3"/>
              </a:lnSpc>
              <a:spcBef>
                <a:spcPct val="0"/>
              </a:spcBef>
            </a:pPr>
            <a:r>
              <a:rPr lang="en-US" b="true" sz="6202" strike="noStrike" u="none">
                <a:solidFill>
                  <a:srgbClr val="009EFA"/>
                </a:solidFill>
                <a:latin typeface="Play Bold"/>
                <a:ea typeface="Play Bold"/>
                <a:cs typeface="Play Bold"/>
                <a:sym typeface="Play Bold"/>
              </a:rPr>
              <a:t>Thank you</a:t>
            </a:r>
            <a:r>
              <a:rPr lang="en-US" b="true" sz="6202" strike="noStrike" u="none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 for your attention and 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4939" y="7542817"/>
            <a:ext cx="6898122" cy="95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3"/>
              </a:lnSpc>
              <a:spcBef>
                <a:spcPct val="0"/>
              </a:spcBef>
            </a:pPr>
            <a:r>
              <a:rPr lang="en-US" b="true" sz="6202" strike="noStrike" u="none">
                <a:solidFill>
                  <a:srgbClr val="009EFA"/>
                </a:solidFill>
                <a:latin typeface="Play Bold"/>
                <a:ea typeface="Play Bold"/>
                <a:cs typeface="Play Bold"/>
                <a:sym typeface="Play Bold"/>
              </a:rPr>
              <a:t>CARE</a:t>
            </a:r>
            <a:r>
              <a:rPr lang="en-US" b="true" sz="6202" strike="noStrike" u="none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 HMS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662" y="8428680"/>
            <a:ext cx="13814677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 Fatima Nahid &amp; Team members (2407E1)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Hospital Management System Overview and Insights</dc:description>
  <dc:identifier>DAGtNXRaJ5U</dc:identifier>
  <dcterms:modified xsi:type="dcterms:W3CDTF">2011-08-01T06:04:30Z</dcterms:modified>
  <cp:revision>1</cp:revision>
  <dc:title>Presentation - Hospital Management System Overview and Insights</dc:title>
</cp:coreProperties>
</file>